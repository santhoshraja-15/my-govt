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MyGovt – AI-Powered Tamil Nadu Citizen Services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BFDBFE"/>
                </a:solidFill>
                <a:latin typeface="Calibri"/>
              </a:rPr>
              <a:t>A PostgreSQL / PostGIS / pgvector database system for schemes, services and complaint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Student(s): [STUDENT NAME 1 – to be filled]   [STUDENT NAME 2 – to be filled]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Register no.: [REGISTER NO. 1 – to be filled]   [REGISTER NO. 2 – to be filled]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BCSE302L – Database Systems  (Lab: BCSE302P)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Faculty: [FACULTY NAME – to be filled]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(bracketed text = placeholders to fill)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Abstract and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Tamil Nadu citizens face scattered scheme, service and complaint information on many department websites.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MyGovt keeps it in one PostgreSQL database and adds a web app, eligibility checker, grounded assistant and officer console.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Complaints are routed to the responsible authority; every status change is recorded by a database trigger.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Government records are 'provisional' – the schema forbids marking them verified without a source document.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Objectives and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>
                <a:solidFill>
                  <a:srgbClr val="0F172A"/>
                </a:solidFill>
                <a:latin typeface="Calibri"/>
              </a:rPr>
              <a:t>•  Normalised schema: departments, jurisdictions, schemes, services, citizens, complaints</a:t>
            </a:r>
          </a:p>
          <a:p>
            <a:pPr>
              <a:spcAft>
                <a:spcPts val="600"/>
              </a:spcAft>
            </a:pPr>
            <a:r>
              <a:rPr sz="2100">
                <a:solidFill>
                  <a:srgbClr val="0F172A"/>
                </a:solidFill>
                <a:latin typeface="Calibri"/>
              </a:rPr>
              <a:t>•  Integrity via PRIMARY KEY, FOREIGN KEY, UNIQUE, NOT NULL, CHECK</a:t>
            </a:r>
          </a:p>
          <a:p>
            <a:pPr>
              <a:spcAft>
                <a:spcPts val="600"/>
              </a:spcAft>
            </a:pPr>
            <a:r>
              <a:rPr sz="2100">
                <a:solidFill>
                  <a:srgbClr val="0F172A"/>
                </a:solidFill>
                <a:latin typeface="Calibri"/>
              </a:rPr>
              <a:t>•  Automation: triggers (complaint history, append-only audit), views (SLA, performance)</a:t>
            </a:r>
          </a:p>
          <a:p>
            <a:pPr>
              <a:spcAft>
                <a:spcPts val="600"/>
              </a:spcAft>
            </a:pPr>
            <a:r>
              <a:rPr sz="2100">
                <a:solidFill>
                  <a:srgbClr val="0F172A"/>
                </a:solidFill>
                <a:latin typeface="Calibri"/>
              </a:rPr>
              <a:t>•  Demonstrate SELECT / INSERT / UPDATE / DELETE, joins, aggregates, subqueries, transactions</a:t>
            </a:r>
          </a:p>
          <a:p>
            <a:pPr>
              <a:spcAft>
                <a:spcPts val="600"/>
              </a:spcAft>
            </a:pPr>
            <a:r>
              <a:rPr sz="2100">
                <a:solidFill>
                  <a:srgbClr val="0F172A"/>
                </a:solidFill>
                <a:latin typeface="Calibri"/>
              </a:rPr>
              <a:t>•  Scope: database + API + web UI.  Not in scope: verifying records against official sources, production hosting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4</a:t>
            </a:r>
          </a:p>
        </p:txBody>
      </p:sp>
      <p:pic>
        <p:nvPicPr>
          <p:cNvPr id="5" name="Picture 4" descr="15_arch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192" y="1051560"/>
            <a:ext cx="4453311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64748B"/>
                </a:solidFill>
                <a:latin typeface="Calibri"/>
              </a:rPr>
              <a:t>Generated by the Database Architecture Explorer from the running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>
                <a:solidFill>
                  <a:srgbClr val="0F172A"/>
                </a:solidFill>
                <a:latin typeface="Calibri"/>
              </a:rPr>
              <a:t>•  Citizen files a complaint  →  API validates (CHECK / FK constraints)</a:t>
            </a:r>
          </a:p>
          <a:p>
            <a:pPr>
              <a:spcAft>
                <a:spcPts val="600"/>
              </a:spcAft>
            </a:pPr>
            <a:r>
              <a:rPr sz="2100">
                <a:solidFill>
                  <a:srgbClr val="0F172A"/>
                </a:solidFill>
                <a:latin typeface="Calibri"/>
              </a:rPr>
              <a:t>•  Routing: category + jurisdiction → department and authority (frozen on the row)</a:t>
            </a:r>
          </a:p>
          <a:p>
            <a:pPr>
              <a:spcAft>
                <a:spcPts val="600"/>
              </a:spcAft>
            </a:pPr>
            <a:r>
              <a:rPr sz="2100">
                <a:solidFill>
                  <a:srgbClr val="0F172A"/>
                </a:solidFill>
                <a:latin typeface="Calibri"/>
              </a:rPr>
              <a:t>•  INSERT / UPDATE of status  →  trigger writes complaints.complaint_history</a:t>
            </a:r>
          </a:p>
          <a:p>
            <a:pPr>
              <a:spcAft>
                <a:spcPts val="600"/>
              </a:spcAft>
            </a:pPr>
            <a:r>
              <a:rPr sz="2100">
                <a:solidFill>
                  <a:srgbClr val="0F172A"/>
                </a:solidFill>
                <a:latin typeface="Calibri"/>
              </a:rPr>
              <a:t>•  Officer (department-scoped) assigns / progresses the complaint; allowed transitions enforced by a state machine</a:t>
            </a:r>
          </a:p>
          <a:p>
            <a:pPr>
              <a:spcAft>
                <a:spcPts val="600"/>
              </a:spcAft>
            </a:pPr>
            <a:r>
              <a:rPr sz="2100">
                <a:solidFill>
                  <a:srgbClr val="0F172A"/>
                </a:solidFill>
                <a:latin typeface="Calibri"/>
              </a:rPr>
              <a:t>•  Views report SLA breaches and department performance; audit log is append-only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ER Diagram – 50 tables, 10 schemas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6</a:t>
            </a:r>
          </a:p>
        </p:txBody>
      </p:sp>
      <p:pic>
        <p:nvPicPr>
          <p:cNvPr id="5" name="Picture 4" descr="16_arch_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507" y="1051560"/>
            <a:ext cx="3094681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ER Diagram – Complaint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7</a:t>
            </a:r>
          </a:p>
        </p:txBody>
      </p:sp>
      <p:pic>
        <p:nvPicPr>
          <p:cNvPr id="5" name="Picture 4" descr="17_arch_er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808" y="1051560"/>
            <a:ext cx="3022078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Relational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DEPARTMENT(PK:department_id, department_code UQ, department_name, status, verification_status)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AUTHORITY(PK:authority_id, FK:department_id, authority_name, parent_authority_id …)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SCHEME(PK:scheme_id, scheme_code UQ, scheme_name, scheme_level, FK:department_id, status …)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ELIGIBILITY_RULE(PK:rule_id, FK:scheme_id, rule_type, operator, value …)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COMPLAINT(PK:complaint_id, complaint_ref UQ, FK:citizen_id, FK:category_id, FK:department_id, FK:authority_id, status, priority …)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COMPLAINT_HISTORY(PK:history_id, FK:complaint_id, old_status, new_status, changed_at …)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Normalization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1NF: primary key + atomic columns on every core table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2NF: single-column surrogate keys; junction tables hold only foreign keys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3NF: names and SLAs stored once (department, category) and referenced by FK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Deliberate denormalization: complaint stores department_id AND authority_id (routing result frozen for history)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Honest note: 3NF is the designer's analysis – the catalog cannot prove functional dependencies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Database Implementation – DBMS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PostgreSQL 16.15  +  PostGIS 3.6.2, pgvector 0.8.6, pg_trgm, pgcrypto, btree_gist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10 schemas · 50 tables · 513 columns · 77 foreign keys · 13 triggers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Indexes: B-tree, GIN (full text), GiST (spatial), HNSW (vector)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Created by 001_schema.sql + migrations 002–008; seed 002_verified_seed_data.sql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CREATE TABLE – administration.department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CREATE TABLE administration.department (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  department_id   serial PRIMARY KEY,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  department_code text UNIQUE NOT NULL,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  department_name text NOT NULL,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  name_ta         text,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  description     text,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  website_url     text,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  contact_email   text,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  contact_phone   text,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  status          text NOT NULL DEFAULT 'active',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  source_id       uuid REFERENCES system.source_registry(source_id)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CREATE TABLE – schemes.scheme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CREATE TABLE schemes.scheme (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  scheme_id        uuid PRIMARY KEY DEFAULT gen_random_uuid(),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  scheme_code      text UNIQUE NOT NULL,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  scheme_name      text NOT NULL,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  name_ta          text,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  short_description text,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  full_description text,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  scheme_level     text NOT NULL CHECK (scheme_level IN ('central','state','district')),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  department_id    int REFERENCES administration.department(department_id),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  state_id         int REFERENCES administration.state(state_id),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  category         text,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  benefits_summary text,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  application_url  text,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  official_url     text,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  status           text NOT NULL DEFAULT 'active' CHECK (status IN ('active','closed','suspended','draft')),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  effective_from   date,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  effective_to     date,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  policy_version_id int REFERENCES policies.policy_version(policy_version_id),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  source_id        uuid REFERENCES system.source_registry(source_id),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  dataset_id       uuid REFERENCES system.dataset_registry(dataset_id),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  verified_at      timestamptz,                  -- last verified against an official source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  embedding        vector(1024),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  tsv              tsvector,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  created_at       timestamptz NOT NULL DEFAULT now(),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  updated_at       timestamptz NOT NULL DEFAULT now()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CREATE TABLE – complaints.complaint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CREATE TABLE complaints.complaint (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complaint_id        uuid PRIMARY KEY DEFAULT gen_random_uuid(),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complaint_ref       text UNIQUE NOT NULL DEFAULT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                    ('MYG-' || to_char(now(),'YYYY') || '-' || lpad(nextval('complaints.complaint_seq')::text, 6, '0')),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citizen_id          uuid NOT NULL REFERENCES identity.citizen(citizen_id),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title               text NOT NULL,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description         text NOT NULL,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language            text,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category_id         int REFERENCES complaints.complaint_category(category_id),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category_confidence numeric(4,3),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department_id       int REFERENCES administration.department(department_id),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authority_id        int REFERENCES administration.authority(authority_id),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assigned_officer_id uuid REFERENCES administration.officer(officer_id),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priority            text NOT NULL DEFAULT 'medium' CHECK (priority IN ('low','medium','high','critical')),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status              text NOT NULL DEFAULT 'submitted' CHECK (status IN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                    ('submitted','needs_triage','classified','assigned','in_progress','resolved','closed','rejected','escalated','reopened')),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is_corruption_report boolean NOT NULL DEFAULT false,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is_anonymous        boolean NOT NULL DEFAULT false,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latitude            double precision,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longitude           double precision,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location            geometry(Point,4326),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ward_id             int REFERENCES administration.ward(ward_id),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local_body_id       int REFERENCES administration.local_body(local_body_id),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taluk_id            int REFERENCES administration.taluk(taluk_id),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district_id         int REFERENCES administration.district(district_id),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decision_id         uuid,                      -- FK added after ai.decision exists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created_at          timestamptz NOT NULL DEFAULT now(),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updated_at          timestamptz NOT NULL DEFAULT now(),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due_date            timestamptz,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escalation_due_at   timestamptz,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  resolved_at         timestamptz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latin typeface="Consolas"/>
              </a:rPr>
              <a:t>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CREATE TABLE – complaints.complaint_history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CREATE TABLE complaints.complaint_history (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history_id   bigserial PRIMARY KEY,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complaint_id uuid NOT NULL REFERENCES complaints.complaint(complaint_id) ON DELETE CASCADE,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old_status   text,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new_status   text NOT NULL,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changed_by   uuid,                             -- app_user.user_id, NULL = system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remarks      text,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changed_at   timestamptz NOT NULL DEFAULT now()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Sample records – INSERT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INSERT INTO administration.department (department_code, department_name, status)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VALUES ('REVT', 'Revenue Department', 'active');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INSERT INTO administration.department (department_code, department_name, status)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VALUES ('HLTH', 'Health and Family Welfare Department', 'active');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INSERT INTO administration.department (department_code, department_name, status)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VALUES ('EDUC', 'School Education Department', 'active');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INSERT INTO complaints.complaint_category (category_code, category_name, default_sla_hours)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VALUES ('CAT-POW', 'Power Outage / Electricity Fault', 24);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INSERT INTO complaints.complaint_category (category_code, category_name, default_sla_hours)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VALUES ('CAT-WAT', 'Water Supply Disruption', 24);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INSERT INTO complaints.complaint_category (category_code, category_name, default_sla_hours)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VALUES ('CAT-ROA', 'Road Damage / Potholes', 72);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SQL query – INNER JOIN: schemes with their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SELECT s.scheme_name, d.department_name, s.verification_status FROM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    schemes.scheme s JOIN administration.department d ON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    d.department_id = s.department_id ORDER BY s.scheme_name LIMIT 8;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0972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scheme_name                                                | department_name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                              | verification_status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------------------------------------------------------------+-----------------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   --------------------------+---------------------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Amma Baby Care Kit                                         | Health and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   Family Welfare Department      | provisional       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Amma Unavagam (Subsidized Canteens)                        | Municipal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   Administration and Water Supply | provisional       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Anytime Anywhere Land Records (e-Services)                 | Revenue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   Department                        | provisional       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Chief Minister Breakfast Scheme                            | School Education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    Department               | provisional       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Chief Minister Comprehensive Health Insurance (CMCHIS)     | Health and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   Family Welfare Department      | provisional       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Disability Pension Scheme (Differently Abled Welfare)      | Social Welfare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   and Women Empowerment      | provisional       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Indira Gandhi National Old Age Pension Scheme (IGNOAPS ... | Social Welfare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   and Women Empowerment      | provisional       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Kalaignar Magalir Urimai Thogai                            | Social Welfare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   and Women Empowerment      | provisional       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(8 rows)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SQL query – Aggregate + GROUP BY: complaints per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SELECT d.department_name, count(*) AS total, count(*) FILTER (WHERE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    c.status IN ('resolved','closed')) AS resolved, round(100.0 *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    count(*) FILTER (WHERE c.status IN ('resolved','closed')) /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    count(*), 1) AS resolved_pct FROM complaints.complaint c JOIN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    administration.department d ON d.department_id = c.department_id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    GROUP BY d.department_name ORDER BY total DESC;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0972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department_name                             | total | resolved | resolved_pct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---------------------------------------------+-------+----------+-------------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   -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Municipal Administration and Water Supply   | 30    | 11       | 36.7       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Health and Family Welfare Department        | 14    | 6        | 42.9       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Revenue Department                          | 11    | 6        | 54.5       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Energy Department (TANGEDCO)                | 9     | 4        | 44.4       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Rural Development and Panchayat Raj         | 7     | 2        | 28.6       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Department of Agriculture &amp; Farmers Welfare | 7     | 4        | 57.1       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School Education Department                 | 5     | 2        | 40.0       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Social Welfare and Women Empowerment        | 3     | 3        | 100.0      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(8 rows)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SQL query – Subquery: departments with more complaints than the average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SELECT department_name FROM administration.department WHERE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    department_id IN (SELECT department_id FROM complaints.complaint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    GROUP BY department_id HAVING count(*) &gt; (SELECT avg(n) FROM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    (SELECT count(*) AS n FROM complaints.complaint GROUP BY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    department_id) t)) ORDER BY department_name;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0972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department_name                         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-------------------------------------------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Health and Family Welfare Department    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Municipal Administration and Water Supply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Revenue Department                      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(3 rows)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DML – INSERT a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INSERT INTO administration.department (department_code, 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    department_name, status) VALUES ('RPT-DEMO', 'Report 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    Demonstration Department', 'active') RETURNING 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    department_id, department_code, department_name;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0972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64E3B"/>
                </a:solidFill>
                <a:latin typeface="Consolas"/>
              </a:rPr>
              <a:t> department_id | department_code | department_name               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64E3B"/>
                </a:solidFill>
                <a:latin typeface="Consolas"/>
              </a:rPr>
              <a:t>---------------+-----------------+---------------------------------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64E3B"/>
                </a:solidFill>
                <a:latin typeface="Consolas"/>
              </a:rPr>
              <a:t> 21            | RPT-DEMO        | Report Demonstration Department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64E3B"/>
                </a:solidFill>
                <a:latin typeface="Consolas"/>
              </a:rPr>
              <a:t>(1 row)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DML – UPDATE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UPDATE administration.department SET department_name = 'Report 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    Demo Department (renamed)', website_url = 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    'https://example.org' WHERE department_code = 'RPT-DEMO' 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    RETURNING department_code, department_name, website_url;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0972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64E3B"/>
                </a:solidFill>
                <a:latin typeface="Consolas"/>
              </a:rPr>
              <a:t> department_code | department_name                  | website_url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64E3B"/>
                </a:solidFill>
                <a:latin typeface="Consolas"/>
              </a:rPr>
              <a:t>           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64E3B"/>
                </a:solidFill>
                <a:latin typeface="Consolas"/>
              </a:rPr>
              <a:t>-----------------+----------------------------------+------------------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64E3B"/>
                </a:solidFill>
                <a:latin typeface="Consolas"/>
              </a:rPr>
              <a:t>    ---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64E3B"/>
                </a:solidFill>
                <a:latin typeface="Consolas"/>
              </a:rPr>
              <a:t> RPT-DEMO        | Report Demo Department (renamed) |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64E3B"/>
                </a:solidFill>
                <a:latin typeface="Consolas"/>
              </a:rPr>
              <a:t>    https://example.org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64E3B"/>
                </a:solidFill>
                <a:latin typeface="Consolas"/>
              </a:rPr>
              <a:t>(1 row)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DML – DELETE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DELETE FROM administration.department WHERE department_code = 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    'RPT-DEMO';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0972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64E3B"/>
                </a:solidFill>
                <a:latin typeface="Consolas"/>
              </a:rPr>
              <a:t>DELETE 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Constraint: UNIQUE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INSERT INTO administration.department (department_code, 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    department_name) SELECT department_code, 'duplicate' FROM 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    administration.department LIMIT 1;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0972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64E3B"/>
                </a:solidFill>
                <a:latin typeface="Consolas"/>
              </a:rPr>
              <a:t>ERROR: UniqueViolationError: duplicate key value violates unique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64E3B"/>
                </a:solidFill>
                <a:latin typeface="Consolas"/>
              </a:rPr>
              <a:t>    constraint "department_department_code_key"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64E3B"/>
                </a:solidFill>
                <a:latin typeface="Consolas"/>
              </a:rPr>
              <a:t>DETAIL:  Key (department_code)=(REVT) already exists.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Constraint: FOREIGN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INSERT INTO schemes.scheme (scheme_code, scheme_name, 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    scheme_level, department_id) VALUES ('X-2', 'Orphan scheme',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     'state', 99999);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0972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64E3B"/>
                </a:solidFill>
                <a:latin typeface="Consolas"/>
              </a:rPr>
              <a:t>ERROR: ForeignKeyViolationError: insert or update on table "scheme"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64E3B"/>
                </a:solidFill>
                <a:latin typeface="Consolas"/>
              </a:rPr>
              <a:t>    violates foreign key constraint "scheme_department_id_fkey"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64E3B"/>
                </a:solidFill>
                <a:latin typeface="Consolas"/>
              </a:rPr>
              <a:t>DETAIL:  Key (department_id)=(99999) is not present in table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64E3B"/>
                </a:solidFill>
                <a:latin typeface="Consolas"/>
              </a:rPr>
              <a:t>    "department".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Constraint: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INSERT INTO schemes.scheme (scheme_code, scheme_name, 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latin typeface="Consolas"/>
              </a:rPr>
              <a:t>    scheme_level) VALUES ('X-1', 'Bad level', 'galactic');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0972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64E3B"/>
                </a:solidFill>
                <a:latin typeface="Consolas"/>
              </a:rPr>
              <a:t>ERROR: CheckViolationError: new row for relation "scheme" violates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64E3B"/>
                </a:solidFill>
                <a:latin typeface="Consolas"/>
              </a:rPr>
              <a:t>    check constraint "scheme_scheme_level_check"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64E3B"/>
                </a:solidFill>
                <a:latin typeface="Consolas"/>
              </a:rPr>
              <a:t>DETAIL:  Failing row contains (f13100a0-567b-40a1-a8f6-d34ffdc46289,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64E3B"/>
                </a:solidFill>
                <a:latin typeface="Consolas"/>
              </a:rPr>
              <a:t>    X-1, Bad level, null, null, null, galactic, null, null, null, null,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64E3B"/>
                </a:solidFill>
                <a:latin typeface="Consolas"/>
              </a:rPr>
              <a:t>     null, null, active, null, null, null, null, null, null, null,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64E3B"/>
                </a:solidFill>
                <a:latin typeface="Consolas"/>
              </a:rPr>
              <a:t>    'bad':1 'level':2, 2026-10-19 23:46:50.389423+05:30, 2026-10-19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64E3B"/>
                </a:solidFill>
                <a:latin typeface="Consolas"/>
              </a:rPr>
              <a:t>    23:46:50.389423+05:30, null, null, 100% State, provisional).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Advanced Concepts –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Functions (7, PL/pgSQL): resolve_jurisdiction, log_status_change, refresh_tsv, touch_updated_at, block_mutation, fill_location, log_verification_change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Triggers (13): complaint history, append-only audit log, updated_at, search vectors, verification log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Views: v_sla_breached, v_department_performance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Procedure: PostgreSQL CALL demonstrated with an illustrative procedure (scratch DB only – the app itself has none)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Transactions: BEGIN / COMMIT / ROLLBACK / SAVEPOINT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Trigger – complaint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CREATE OR REPLACE FUNCTION complaints.log_status_change() RETURNS trigger AS $$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BEGIN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  IF TG_OP = 'INSERT' THEN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    INSERT INTO complaints.complaint_history(complaint_id, old_status, new_status, remarks)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    VALUES (NEW.complaint_id, NULL, NEW.status, 'created');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  ELSIF NEW.status IS DISTINCT FROM OLD.status THEN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    INSERT INTO complaints.complaint_history(complaint_id, old_status, new_status)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    VALUES (NEW.complaint_id, OLD.status, NEW.status);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  END IF;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  RETURN NEW;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END $$ LANGUAGE plpgsql;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CREATE TRIGGER trg_complaint_history AFTER INSERT OR UPDATE OF status ON complaints.complaint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  FOR EACH ROW EXECUTE FUNCTION complaints.log_status_change();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Trigger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UPDATE complaints.complaint SET status = 'assigned' WHERE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    complaint_ref = 'SYN-7-000019' RETURNING complaint_ref, status;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0972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old_status | new_status | remarks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------------+------------+---------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NULL       | submitted  | created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submitted  | classified | NULL  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classified | assigned   | NULL  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(3 rows)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B45309"/>
                </a:solidFill>
                <a:latin typeface="Calibri"/>
              </a:rPr>
              <a:t>UPDATE of status fired the trigger → new row in complaint_history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Trigger – append-only audit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UPDATE audit.audit_log SET action = 'tampered' WHERE action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   = 'report.demo';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0972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064E3B"/>
                </a:solidFill>
                <a:latin typeface="Consolas"/>
              </a:rPr>
              <a:t>ERROR: RaiseError: audit_log is append-only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View – v_department_performance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SELECT department_id, total, resolved, sla_breached FROM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  complaints.v_department_performance ORDER BY total DESC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   LIMIT 5;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0972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064E3B"/>
                </a:solidFill>
                <a:latin typeface="Consolas"/>
              </a:rPr>
              <a:t> department_id | total | resolved | sla_breached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64E3B"/>
                </a:solidFill>
                <a:latin typeface="Consolas"/>
              </a:rPr>
              <a:t>---------------+-------+----------+--------------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64E3B"/>
                </a:solidFill>
                <a:latin typeface="Consolas"/>
              </a:rPr>
              <a:t> 7             | 30    | 11       | 13          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64E3B"/>
                </a:solidFill>
                <a:latin typeface="Consolas"/>
              </a:rPr>
              <a:t> 2             | 14    | 6        | 7           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64E3B"/>
                </a:solidFill>
                <a:latin typeface="Consolas"/>
              </a:rPr>
              <a:t> 1             | 11    | 6        | 4           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64E3B"/>
                </a:solidFill>
                <a:latin typeface="Consolas"/>
              </a:rPr>
              <a:t> 13            | 9     | 4        | 3           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64E3B"/>
                </a:solidFill>
                <a:latin typeface="Consolas"/>
              </a:rPr>
              <a:t> 4             | 7     | 4        | 1           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064E3B"/>
                </a:solidFill>
                <a:latin typeface="Consolas"/>
              </a:rPr>
              <a:t>(5 rows)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Stored procedure (illustrative) – CREATE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CREATE OR REPLACE PROCEDURE complaints.close_stale_resolved(p_days integer)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LANGUAGE plpgsql AS $$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DECLARE n integer;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BEGIN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UPDATE complaints.complaint SET status = 'closed'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WHERE status = 'resolved' AND resolved_at &lt; now() - make_interval(days =&gt; p_days);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GET DIAGNOSTICS n = ROW_COUNT;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RAISE NOTICE '% resolved complaint(s) older than % days were closed', n, p_days;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COMMIT;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END $$;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B45309"/>
                </a:solidFill>
                <a:latin typeface="Calibri"/>
              </a:rPr>
              <a:t>Created on the scratch database only; not part of the application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Stored procedure –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CALL complaints.close_stale_resolved(7);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-- before: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 status   | count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----------+-------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 closed   | 35  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 resolved | 3   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(2 rows)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-- after: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 status   | count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----------+-------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 closed   | 35  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 resolved | 3   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(2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0972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CALL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NOTICE: 0 resolved complaint(s) older than 7 days were closed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Transactions – ROLLBACK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-- BEGIN a transaction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BEGIN;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-- UPDATE inside the transaction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UPDATE complaints.complaint SET priority = 'critical' WHERE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    complaint_ref = 'DEMO-0003' RETURNING complaint_ref, priority;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-- ROLLBACK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>ROLLBACK;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F172A"/>
                </a:solidFill>
                <a:latin typeface="Consolas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0972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complaint_ref | priority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---------------+----------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 DEMO-0003     | medium 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64E3B"/>
                </a:solidFill>
                <a:latin typeface="Consolas"/>
              </a:rPr>
              <a:t>(1 row)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B45309"/>
                </a:solidFill>
                <a:latin typeface="Calibri"/>
              </a:rPr>
              <a:t>After ROLLBACK the priority is unchanged (medium)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Transactions – SAVEPOINT and COMMIT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-- BEGIN, UPDATE, SAVEPOINT, second UPDATE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BEGIN; UPDATE complaints.complaint SET priority = 'high' WHERE complaint_ref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    = 'DEMO-0003'; SAVEPOINT sp1; UPDATE complaints.complaint SET priority =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    'low' WHERE complaint_ref = 'DEMO-0003';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-- ROLLBACK TO SAVEPOINT then COMMIT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latin typeface="Consolas"/>
              </a:rPr>
              <a:t>ROLLBACK TO SAVEPOINT sp1; COMMIT;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0972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064E3B"/>
                </a:solidFill>
                <a:latin typeface="Consolas"/>
              </a:rPr>
              <a:t> complaint_ref | priority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064E3B"/>
                </a:solidFill>
                <a:latin typeface="Consolas"/>
              </a:rPr>
              <a:t>---------------+----------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064E3B"/>
                </a:solidFill>
                <a:latin typeface="Consolas"/>
              </a:rPr>
              <a:t> DEMO-0003     | high    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064E3B"/>
                </a:solidFill>
                <a:latin typeface="Consolas"/>
              </a:rPr>
              <a:t>(1 row)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B45309"/>
                </a:solidFill>
                <a:latin typeface="Calibri"/>
              </a:rPr>
              <a:t>Only the first update persisted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Application – Landing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34</a:t>
            </a:r>
          </a:p>
        </p:txBody>
      </p:sp>
      <p:pic>
        <p:nvPicPr>
          <p:cNvPr id="5" name="Picture 4" descr="01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607" y="1051560"/>
            <a:ext cx="841248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Application – Scheme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35</a:t>
            </a:r>
          </a:p>
        </p:txBody>
      </p:sp>
      <p:pic>
        <p:nvPicPr>
          <p:cNvPr id="5" name="Picture 4" descr="02_sche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607" y="1051560"/>
            <a:ext cx="841248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Application – Eligibility checker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36</a:t>
            </a:r>
          </a:p>
        </p:txBody>
      </p:sp>
      <p:pic>
        <p:nvPicPr>
          <p:cNvPr id="5" name="Picture 4" descr="03_elig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607" y="1051560"/>
            <a:ext cx="841248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Application – File a complaint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37</a:t>
            </a:r>
          </a:p>
        </p:txBody>
      </p:sp>
      <p:pic>
        <p:nvPicPr>
          <p:cNvPr id="5" name="Picture 4" descr="07_file_compla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607" y="1051560"/>
            <a:ext cx="841248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Application – Officer complaint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38</a:t>
            </a:r>
          </a:p>
        </p:txBody>
      </p:sp>
      <p:pic>
        <p:nvPicPr>
          <p:cNvPr id="5" name="Picture 4" descr="11_officer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607" y="1051560"/>
            <a:ext cx="841248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Application – Administrator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39</a:t>
            </a:r>
          </a:p>
        </p:txBody>
      </p:sp>
      <p:pic>
        <p:nvPicPr>
          <p:cNvPr id="5" name="Picture 4" descr="12_admi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607" y="1051560"/>
            <a:ext cx="841248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Database structure – Implementation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40</a:t>
            </a:r>
          </a:p>
        </p:txBody>
      </p:sp>
      <p:pic>
        <p:nvPicPr>
          <p:cNvPr id="5" name="Picture 4" descr="19_arch_imple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607" y="1051560"/>
            <a:ext cx="841248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Testing and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41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6949440"/>
              </a:tblGrid>
              <a:tr h="365760">
                <a:tc>
                  <a:txBody>
                    <a:bodyPr/>
                    <a:lstStyle/>
                    <a:p>
                      <a:r>
                        <a:rPr sz="1600" b="1"/>
                        <a:t>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Result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/>
                        <a:t>Backend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525 collected (133 unit)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/>
                        <a:t>Browser end-to-end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103 Playwright tests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/>
                        <a:t>Hosted CI (run 39298767536)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10 / 10 jobs passed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/>
                        <a:t>System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15 routes · 530 controls · 67 API ops · 56 consistency checks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/>
                        <a:t>SQL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47 statements executed; only deliberate violations error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Conclusion and Future Enhancement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>
                <a:solidFill>
                  <a:srgbClr val="0F172A"/>
                </a:solidFill>
                <a:latin typeface="Calibri"/>
              </a:rPr>
              <a:t>•  A working database-backed platform: 50 tables, enforced integrity, triggers, views, spatial and vector search</a:t>
            </a:r>
          </a:p>
          <a:p>
            <a:pPr>
              <a:spcAft>
                <a:spcPts val="600"/>
              </a:spcAft>
            </a:pPr>
            <a:r>
              <a:rPr sz="2100">
                <a:solidFill>
                  <a:srgbClr val="0F172A"/>
                </a:solidFill>
                <a:latin typeface="Calibri"/>
              </a:rPr>
              <a:t>•  Limits: records provisional (0 officially verified); 3NF argued not proven; no stored procedure in app; boundaries not loaded</a:t>
            </a:r>
          </a:p>
          <a:p>
            <a:pPr>
              <a:spcAft>
                <a:spcPts val="600"/>
              </a:spcAft>
            </a:pPr>
            <a:r>
              <a:rPr sz="2100">
                <a:solidFill>
                  <a:srgbClr val="0F172A"/>
                </a:solidFill>
                <a:latin typeface="Calibri"/>
              </a:rPr>
              <a:t>•  Future: verify records with official documents · load jurisdiction boundaries · partition audit/history · notifications · mobile app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MyGovt · BCSE302P Database Systems Lab · 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PostgreSQL 16 documentation – postgresql.org/docs/16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PostGIS documentation – postgis.net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pgvector – github.com/pgvector/pgvector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Silberschatz, Korth, Sudarshan – Database System Concepts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Elmasri, Navathe – Fundamentals of Database Systems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0F172A"/>
                </a:solidFill>
                <a:latin typeface="Calibri"/>
              </a:rPr>
              <a:t>•  Project repository – github.com/santhoshraja-15/My-Govt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